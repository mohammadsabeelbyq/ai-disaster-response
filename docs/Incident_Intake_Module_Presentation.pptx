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A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79408" y="0"/>
            <a:ext cx="3212287" cy="6858000"/>
          </a:xfrm>
          <a:prstGeom prst="rect">
            <a:avLst/>
          </a:prstGeom>
          <a:solidFill>
            <a:srgbClr val="174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658368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8E5DD"/>
                </a:solidFill>
                <a:latin typeface="Aptos"/>
              </a:rPr>
              <a:t>PROJECT WALKTHROUGH  /  EPIC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444752"/>
            <a:ext cx="76352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300" b="1" i="0">
                <a:solidFill>
                  <a:srgbClr val="FFFEFA"/>
                </a:solidFill>
                <a:latin typeface="Aptos Display"/>
              </a:rPr>
              <a:t>INCIDENT
INTAKE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456432"/>
            <a:ext cx="475488" cy="54864"/>
          </a:xfrm>
          <a:prstGeom prst="rect">
            <a:avLst/>
          </a:prstGeom>
          <a:solidFill>
            <a:srgbClr val="E9A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694176"/>
            <a:ext cx="7132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F3C96F"/>
                </a:solidFill>
                <a:latin typeface="Aptos Display"/>
              </a:rPr>
              <a:t>Report &amp; Media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708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8E5DD"/>
                </a:solidFill>
                <a:latin typeface="Aptos"/>
              </a:rPr>
              <a:t>Web submission  +  structured JSON / CSV 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90488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7C9C0"/>
                </a:solidFill>
                <a:latin typeface="Aptos"/>
              </a:rPr>
              <a:t>User stories 1.1 and 1.2  ·  Current sprint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13385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3C96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1472" y="1755648"/>
            <a:ext cx="2286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EFA"/>
                </a:solidFill>
                <a:latin typeface="Aptos Display"/>
              </a:rPr>
              <a:t>TWO
ENTRY
POINTS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8048" y="3950208"/>
            <a:ext cx="1627632" cy="0"/>
          </a:xfrm>
          <a:prstGeom prst="line">
            <a:avLst/>
          </a:prstGeom>
          <a:ln w="13970">
            <a:solidFill>
              <a:srgbClr val="6B9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528048" y="4169663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8E5DD"/>
                </a:solidFill>
                <a:latin typeface="Aptos"/>
              </a:rPr>
              <a:t>One report contract.
Independent record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INCIDENT INTAKE  /  REPORT &amp;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5440" y="31089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78837D"/>
                </a:solidFill>
                <a:latin typeface="Aptos"/>
              </a:rPr>
              <a:t>WHAT THIS DELIVERS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58368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89611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82522"/>
                </a:solidFill>
                <a:latin typeface="Aptos Display"/>
              </a:rPr>
              <a:t>Two supported ways to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8837D"/>
                </a:solidFill>
                <a:latin typeface="Aptos"/>
              </a:rPr>
              <a:t>Both paths feed the same report and media services in the backend.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5624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8837D"/>
                </a:solidFill>
                <a:latin typeface="Aptos"/>
              </a:rPr>
              <a:t>CURRENT SCOPE  ·  EPIC 1 / STORIES 1.1 + 1.2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02  / 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39696"/>
            <a:ext cx="5285232" cy="29718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E1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404872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F7B41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45973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WEB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944368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82522"/>
                </a:solidFill>
                <a:latin typeface="Aptos Display"/>
              </a:rPr>
              <a:t>Enter one incident at a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03904"/>
            <a:ext cx="64008" cy="64008"/>
          </a:xfrm>
          <a:prstGeom prst="roundRect">
            <a:avLst>
              <a:gd name="adj" fmla="val 8000"/>
            </a:avLst>
          </a:prstGeom>
          <a:solidFill>
            <a:srgbClr val="DF7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694176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82522"/>
                </a:solidFill>
                <a:latin typeface="Aptos"/>
              </a:rPr>
              <a:t>Required details: type, description, coordinates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70832"/>
            <a:ext cx="64008" cy="64008"/>
          </a:xfrm>
          <a:prstGeom prst="roundRect">
            <a:avLst>
              <a:gd name="adj" fmla="val 8000"/>
            </a:avLst>
          </a:prstGeom>
          <a:solidFill>
            <a:srgbClr val="DF7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61104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82522"/>
                </a:solidFill>
                <a:latin typeface="Aptos"/>
              </a:rPr>
              <a:t>Location name and image are optional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139696"/>
            <a:ext cx="5285232" cy="29718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E1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404872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F7B41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245973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JSON / 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944368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82522"/>
                </a:solidFill>
                <a:latin typeface="Aptos Display"/>
              </a:rPr>
              <a:t>Submit a file containing multiple reports.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803904"/>
            <a:ext cx="64008" cy="64008"/>
          </a:xfrm>
          <a:prstGeom prst="roundRect">
            <a:avLst>
              <a:gd name="adj" fmla="val 8000"/>
            </a:avLst>
          </a:prstGeom>
          <a:solidFill>
            <a:srgbClr val="DF7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694176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82522"/>
                </a:solidFill>
                <a:latin typeface="Aptos"/>
              </a:rPr>
              <a:t>JSON objects or CSV rows use the report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370832"/>
            <a:ext cx="64008" cy="64008"/>
          </a:xfrm>
          <a:prstGeom prst="roundRect">
            <a:avLst>
              <a:gd name="adj" fmla="val 8000"/>
            </a:avLst>
          </a:prstGeom>
          <a:solidFill>
            <a:srgbClr val="DF7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261104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82522"/>
                </a:solidFill>
                <a:latin typeface="Aptos"/>
              </a:rPr>
              <a:t>Each record receives its own result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13248"/>
            <a:ext cx="10863072" cy="621792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6235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ON SUCCESS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595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74C42"/>
                </a:solidFill>
                <a:latin typeface="Aptos"/>
              </a:rPr>
              <a:t>A stored report gets a unique ID, timestamp, and SUBMITTED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INCIDENT INTAKE  /  REPORT &amp;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5440" y="31089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78837D"/>
                </a:solidFill>
                <a:latin typeface="Aptos"/>
              </a:rPr>
              <a:t>STORY 1.1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58368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89611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82522"/>
                </a:solidFill>
                <a:latin typeface="Aptos Display"/>
              </a:rPr>
              <a:t>Web form: one report, clearly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8837D"/>
                </a:solidFill>
                <a:latin typeface="Aptos"/>
              </a:rPr>
              <a:t>The form collects structured incident details and sends them to POST /reports.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5624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8837D"/>
                </a:solidFill>
                <a:latin typeface="Aptos"/>
              </a:rPr>
              <a:t>CURRENT SCOPE  ·  EPIC 1 / STORIES 1.1 + 1.2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03  / 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21408"/>
            <a:ext cx="6812280" cy="3822191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E1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8837D"/>
                </a:solidFill>
                <a:latin typeface="Aptos"/>
              </a:rPr>
              <a:t>INCIDENT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2724912"/>
            <a:ext cx="4736592" cy="393192"/>
          </a:xfrm>
          <a:prstGeom prst="roundRect">
            <a:avLst>
              <a:gd name="adj" fmla="val 8000"/>
            </a:avLst>
          </a:prstGeom>
          <a:solidFill>
            <a:srgbClr val="F4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2820924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8837D"/>
                </a:solidFill>
                <a:latin typeface="Aptos"/>
              </a:rPr>
              <a:t>FLOOD / FIRE / EARTHQUAKE /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438144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8837D"/>
                </a:solidFill>
                <a:latin typeface="Aptos"/>
              </a:rPr>
              <a:t>DESCRIPTION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3364991"/>
            <a:ext cx="4736592" cy="393192"/>
          </a:xfrm>
          <a:prstGeom prst="roundRect">
            <a:avLst>
              <a:gd name="adj" fmla="val 8000"/>
            </a:avLst>
          </a:prstGeom>
          <a:solidFill>
            <a:srgbClr val="F4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461003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8837D"/>
                </a:solidFill>
                <a:latin typeface="Aptos"/>
              </a:rPr>
              <a:t>What is happening? Who is affected?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078224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8837D"/>
                </a:solidFill>
                <a:latin typeface="Aptos"/>
              </a:rPr>
              <a:t>LATITUDE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4005072"/>
            <a:ext cx="4736592" cy="393192"/>
          </a:xfrm>
          <a:prstGeom prst="roundRect">
            <a:avLst>
              <a:gd name="adj" fmla="val 8000"/>
            </a:avLst>
          </a:prstGeom>
          <a:solidFill>
            <a:srgbClr val="F4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87168" y="4101084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8837D"/>
                </a:solidFill>
                <a:latin typeface="Aptos"/>
              </a:rPr>
              <a:t>-90 to 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718304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8837D"/>
                </a:solidFill>
                <a:latin typeface="Aptos"/>
              </a:rPr>
              <a:t>LONGITUDE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4645152"/>
            <a:ext cx="4736592" cy="393192"/>
          </a:xfrm>
          <a:prstGeom prst="roundRect">
            <a:avLst>
              <a:gd name="adj" fmla="val 8000"/>
            </a:avLst>
          </a:prstGeom>
          <a:solidFill>
            <a:srgbClr val="F4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7168" y="4741164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8837D"/>
                </a:solidFill>
                <a:latin typeface="Aptos"/>
              </a:rPr>
              <a:t>-180 to 180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1832" y="5431536"/>
            <a:ext cx="6172200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0976" y="5577840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F7B41"/>
                </a:solidFill>
                <a:latin typeface="Aptos"/>
              </a:rPr>
              <a:t>OPTIONAL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83664" y="554126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82522"/>
                </a:solidFill>
                <a:latin typeface="Aptos"/>
              </a:rPr>
              <a:t>Location name  ·  Photo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90688" y="2121408"/>
            <a:ext cx="3730752" cy="3822191"/>
          </a:xfrm>
          <a:prstGeom prst="roundRect">
            <a:avLst>
              <a:gd name="adj" fmla="val 8000"/>
            </a:avLst>
          </a:prstGeom>
          <a:solidFill>
            <a:srgbClr val="174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1583" y="24323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3C96F"/>
                </a:solidFill>
                <a:latin typeface="Aptos"/>
              </a:rPr>
              <a:t>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2999232"/>
            <a:ext cx="64008" cy="64008"/>
          </a:xfrm>
          <a:prstGeom prst="roundRect">
            <a:avLst>
              <a:gd name="adj" fmla="val 8000"/>
            </a:avLst>
          </a:prstGeom>
          <a:solidFill>
            <a:srgbClr val="E9A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2889504"/>
            <a:ext cx="2880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EFA"/>
                </a:solidFill>
                <a:latin typeface="Aptos"/>
              </a:rPr>
              <a:t>Required values and coordinate ranges are checked.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3877056"/>
            <a:ext cx="64008" cy="64008"/>
          </a:xfrm>
          <a:prstGeom prst="roundRect">
            <a:avLst>
              <a:gd name="adj" fmla="val 8000"/>
            </a:avLst>
          </a:prstGeom>
          <a:solidFill>
            <a:srgbClr val="E9A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3767328"/>
            <a:ext cx="2880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EFA"/>
                </a:solidFill>
                <a:latin typeface="Aptos"/>
              </a:rPr>
              <a:t>Description is limited to 5,000 characters.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4754880"/>
            <a:ext cx="64008" cy="64008"/>
          </a:xfrm>
          <a:prstGeom prst="roundRect">
            <a:avLst>
              <a:gd name="adj" fmla="val 8000"/>
            </a:avLst>
          </a:prstGeom>
          <a:solidFill>
            <a:srgbClr val="E9A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4645152"/>
            <a:ext cx="2880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EFA"/>
                </a:solidFill>
                <a:latin typeface="Aptos"/>
              </a:rPr>
              <a:t>The API rejects invalid input without saving a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INCIDENT INTAKE  /  REPORT &amp;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5440" y="31089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78837D"/>
                </a:solidFill>
                <a:latin typeface="Aptos"/>
              </a:rPr>
              <a:t>STORY 1.2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58368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89611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82522"/>
                </a:solidFill>
                <a:latin typeface="Aptos Display"/>
              </a:rPr>
              <a:t>Photo evidence is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8837D"/>
                </a:solidFill>
                <a:latin typeface="Aptos"/>
              </a:rPr>
              <a:t>Text-only reports remain valid; a supported image is safely attached to its report.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5624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8837D"/>
                </a:solidFill>
                <a:latin typeface="Aptos"/>
              </a:rPr>
              <a:t>CURRENT SCOPE  ·  EPIC 1 / STORIES 1.1 + 1.2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04  / 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39696"/>
            <a:ext cx="5138928" cy="3456432"/>
          </a:xfrm>
          <a:prstGeom prst="roundRect">
            <a:avLst>
              <a:gd name="adj" fmla="val 8000"/>
            </a:avLst>
          </a:prstGeom>
          <a:solidFill>
            <a:srgbClr val="174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3C96F"/>
                </a:solidFill>
                <a:latin typeface="Aptos"/>
              </a:rPr>
              <a:t>ACCEPTED FORMATS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999232"/>
            <a:ext cx="1234440" cy="795528"/>
          </a:xfrm>
          <a:prstGeom prst="roundRect">
            <a:avLst>
              <a:gd name="adj" fmla="val 8000"/>
            </a:avLst>
          </a:prstGeom>
          <a:solidFill>
            <a:srgbClr val="24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36976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EFA"/>
                </a:solidFill>
                <a:latin typeface="Aptos"/>
              </a:rPr>
              <a:t>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D8E5DD"/>
                </a:solidFill>
                <a:latin typeface="Aptos"/>
              </a:rPr>
              <a:t>JPEG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1448" y="2999232"/>
            <a:ext cx="1234440" cy="795528"/>
          </a:xfrm>
          <a:prstGeom prst="roundRect">
            <a:avLst>
              <a:gd name="adj" fmla="val 8000"/>
            </a:avLst>
          </a:prstGeom>
          <a:solidFill>
            <a:srgbClr val="24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3236976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EFA"/>
                </a:solidFill>
                <a:latin typeface="Aptos"/>
              </a:rPr>
              <a:t>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3968496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D8E5DD"/>
                </a:solidFill>
                <a:latin typeface="Aptos"/>
              </a:rPr>
              <a:t>PNG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22776" y="2999232"/>
            <a:ext cx="1234440" cy="795528"/>
          </a:xfrm>
          <a:prstGeom prst="roundRect">
            <a:avLst>
              <a:gd name="adj" fmla="val 8000"/>
            </a:avLst>
          </a:prstGeom>
          <a:solidFill>
            <a:srgbClr val="24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22776" y="3236976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EFA"/>
                </a:solidFill>
                <a:latin typeface="Aptos"/>
              </a:rPr>
              <a:t>WEBP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3968496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D8E5DD"/>
                </a:solidFill>
                <a:latin typeface="Aptos"/>
              </a:rPr>
              <a:t>WEBP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00016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7C9C0"/>
                </a:solidFill>
                <a:latin typeface="Aptos"/>
              </a:rPr>
              <a:t>MAXIMUM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608576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3C96F"/>
                </a:solidFill>
                <a:latin typeface="Aptos Display"/>
              </a:rPr>
              <a:t>5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15721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8E5DD"/>
                </a:solidFill>
                <a:latin typeface="Aptos"/>
              </a:rPr>
              <a:t>Checked by the backend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139696"/>
            <a:ext cx="5394960" cy="34564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E1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48716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STORAGE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944368"/>
            <a:ext cx="1042415" cy="32004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017520"/>
            <a:ext cx="104241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74C42"/>
                </a:solidFill>
                <a:latin typeface="Aptos"/>
              </a:rPr>
              <a:t>SELECT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297180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522"/>
                </a:solidFill>
                <a:latin typeface="Aptos"/>
              </a:rPr>
              <a:t>Optional file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67728" y="3282696"/>
            <a:ext cx="0" cy="192024"/>
          </a:xfrm>
          <a:prstGeom prst="line">
            <a:avLst/>
          </a:prstGeom>
          <a:ln w="12700">
            <a:solidFill>
              <a:srgbClr val="9DB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46520" y="3502152"/>
            <a:ext cx="1042415" cy="32004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575304"/>
            <a:ext cx="104241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74C42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352958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522"/>
                </a:solidFill>
                <a:latin typeface="Aptos"/>
              </a:rPr>
              <a:t>Type + bytes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67728" y="3840480"/>
            <a:ext cx="0" cy="192024"/>
          </a:xfrm>
          <a:prstGeom prst="line">
            <a:avLst/>
          </a:prstGeom>
          <a:ln w="12700">
            <a:solidFill>
              <a:srgbClr val="9DB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446520" y="4059936"/>
            <a:ext cx="1042415" cy="32004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133088"/>
            <a:ext cx="104241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74C42"/>
                </a:solidFill>
                <a:latin typeface="Aptos"/>
              </a:rPr>
              <a:t>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408736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522"/>
                </a:solidFill>
                <a:latin typeface="Aptos"/>
              </a:rPr>
              <a:t>Safe filename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967728" y="4398264"/>
            <a:ext cx="0" cy="192024"/>
          </a:xfrm>
          <a:prstGeom prst="line">
            <a:avLst/>
          </a:prstGeom>
          <a:ln w="12700">
            <a:solidFill>
              <a:srgbClr val="9DB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446520" y="4617720"/>
            <a:ext cx="1042415" cy="32004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690872"/>
            <a:ext cx="104241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74C42"/>
                </a:solidFill>
                <a:latin typeface="Aptos"/>
              </a:rPr>
              <a:t>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54112" y="464515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522"/>
                </a:solidFill>
                <a:latin typeface="Aptos"/>
              </a:rPr>
              <a:t>Report media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779008"/>
            <a:ext cx="10863072" cy="384048"/>
          </a:xfrm>
          <a:prstGeom prst="roundRect">
            <a:avLst>
              <a:gd name="adj" fmla="val 8000"/>
            </a:avLst>
          </a:prstGeom>
          <a:solidFill>
            <a:srgbClr val="FB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5870448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82522"/>
                </a:solidFill>
                <a:latin typeface="Aptos"/>
              </a:rPr>
              <a:t>No image selected? The valid report still submits normally.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INCIDENT INTAKE  /  REPORT &amp;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5440" y="31089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78837D"/>
                </a:solidFill>
                <a:latin typeface="Aptos"/>
              </a:rPr>
              <a:t>STORY 1.1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58368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89611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82522"/>
                </a:solidFill>
                <a:latin typeface="Aptos Display"/>
              </a:rPr>
              <a:t>Bulk import: partial success is intentional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8837D"/>
                </a:solidFill>
                <a:latin typeface="Aptos"/>
              </a:rPr>
              <a:t>JSON and CSV records are validated and saved independently, not as one all-or-nothing batch.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5624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8837D"/>
                </a:solidFill>
                <a:latin typeface="Aptos"/>
              </a:rPr>
              <a:t>CURRENT SCOPE  ·  EPIC 1 / STORIES 1.1 + 1.2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05  / 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39696"/>
            <a:ext cx="3675887" cy="363931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E1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323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EXPECTED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3464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4C42"/>
                </a:solidFill>
                <a:latin typeface="Cascadia Code"/>
              </a:rPr>
              <a:t>disaster_type
description
latitude
longitude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2688" y="4489704"/>
            <a:ext cx="3044951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50976" y="4700016"/>
            <a:ext cx="29260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8837D"/>
                </a:solidFill>
                <a:latin typeface="Aptos"/>
              </a:rPr>
              <a:t>Optional: location_name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19379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8837D"/>
                </a:solidFill>
                <a:latin typeface="Aptos"/>
              </a:rPr>
              <a:t>Up to 1,000 records by 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0288" y="2139696"/>
            <a:ext cx="6931152" cy="363931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E1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4323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EXAMPLE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82896" y="2798064"/>
            <a:ext cx="6355080" cy="384048"/>
          </a:xfrm>
          <a:prstGeom prst="roundRect">
            <a:avLst>
              <a:gd name="adj" fmla="val 8000"/>
            </a:avLst>
          </a:prstGeom>
          <a:solidFill>
            <a:srgbClr val="174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2907792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FFEFA"/>
                </a:solidFill>
                <a:latin typeface="Aptos"/>
              </a:rPr>
              <a:t>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2907792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FFEFA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29077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FFEFA"/>
                </a:solidFill>
                <a:latin typeface="Aptos"/>
              </a:rPr>
              <a:t>DETAIL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82896" y="3291840"/>
            <a:ext cx="6355080" cy="484632"/>
          </a:xfrm>
          <a:prstGeom prst="rect">
            <a:avLst/>
          </a:prstGeom>
          <a:solidFill>
            <a:srgbClr val="F4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340156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8837D"/>
                </a:solidFill>
                <a:latin typeface="Aptos"/>
              </a:rPr>
              <a:t>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9904" y="3346704"/>
            <a:ext cx="950976" cy="265176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9904" y="3401568"/>
            <a:ext cx="9509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74C42"/>
                </a:solidFill>
                <a:latin typeface="Aptos"/>
              </a:rPr>
              <a:t>ACCEPTED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339242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522"/>
                </a:solidFill>
                <a:latin typeface="Aptos"/>
              </a:rPr>
              <a:t>Saved as its own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3968496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8837D"/>
                </a:solidFill>
                <a:latin typeface="Aptos"/>
              </a:rPr>
              <a:t>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9904" y="3913631"/>
            <a:ext cx="950976" cy="265176"/>
          </a:xfrm>
          <a:prstGeom prst="roundRect">
            <a:avLst>
              <a:gd name="adj" fmla="val 8000"/>
            </a:avLst>
          </a:prstGeom>
          <a:solidFill>
            <a:srgbClr val="F9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9904" y="3968496"/>
            <a:ext cx="9509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A64135"/>
                </a:solidFill>
                <a:latin typeface="Aptos"/>
              </a:rPr>
              <a:t>REJECTED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7" y="3959352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522"/>
                </a:solidFill>
                <a:latin typeface="Aptos"/>
              </a:rPr>
              <a:t>Description is required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82896" y="4425696"/>
            <a:ext cx="6355080" cy="484632"/>
          </a:xfrm>
          <a:prstGeom prst="rect">
            <a:avLst/>
          </a:prstGeom>
          <a:solidFill>
            <a:srgbClr val="F4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4535424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8837D"/>
                </a:solidFill>
                <a:latin typeface="Aptos"/>
              </a:rPr>
              <a:t>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9904" y="4480559"/>
            <a:ext cx="950976" cy="265176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9904" y="4535424"/>
            <a:ext cx="9509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74C42"/>
                </a:solidFill>
                <a:latin typeface="Aptos"/>
              </a:rPr>
              <a:t>ACCEPTED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4927" y="4526280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522"/>
                </a:solidFill>
                <a:latin typeface="Aptos"/>
              </a:rPr>
              <a:t>Saved as a separate report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2896" y="5193792"/>
            <a:ext cx="6355080" cy="384048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84064" y="529437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4C42"/>
                </a:solidFill>
                <a:latin typeface="Aptos"/>
              </a:rPr>
              <a:t>2 accepted  ·  1 rejected  ·  accepted rows persist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INCIDENT INTAKE  /  REPORT &amp;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5440" y="31089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78837D"/>
                </a:solidFill>
                <a:latin typeface="Aptos"/>
              </a:rPr>
              <a:t>IMPLEMENTATION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58368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89611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82522"/>
                </a:solidFill>
                <a:latin typeface="Aptos Display"/>
              </a:rPr>
              <a:t>Small frontend, reusable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8837D"/>
                </a:solidFill>
                <a:latin typeface="Aptos"/>
              </a:rPr>
              <a:t>The interface uses existing endpoints; domain rules and persistence stay in the backend.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5624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8837D"/>
                </a:solidFill>
                <a:latin typeface="Aptos"/>
              </a:rPr>
              <a:t>CURRENT SCOPE  ·  EPIC 1 / STORIES 1.1 + 1.2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06  / 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1938528" cy="11704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E1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706624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REACT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44952"/>
            <a:ext cx="17190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78837D"/>
                </a:solidFill>
                <a:latin typeface="Aptos"/>
              </a:rPr>
              <a:t>Web form
JSON / 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15184" y="3072384"/>
            <a:ext cx="219455" cy="0"/>
          </a:xfrm>
          <a:prstGeom prst="line">
            <a:avLst/>
          </a:prstGeom>
          <a:ln w="21590">
            <a:solidFill>
              <a:srgbClr val="DF7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80360" y="2487168"/>
            <a:ext cx="1938528" cy="11704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E1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2706624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3044952"/>
            <a:ext cx="17190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78837D"/>
                </a:solidFill>
                <a:latin typeface="Aptos"/>
              </a:rPr>
              <a:t>POST /reports
POST /reports/import/*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37176" y="3072384"/>
            <a:ext cx="219455" cy="0"/>
          </a:xfrm>
          <a:prstGeom prst="line">
            <a:avLst/>
          </a:prstGeom>
          <a:ln w="21590">
            <a:solidFill>
              <a:srgbClr val="DF7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487168"/>
            <a:ext cx="1938528" cy="11704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E1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2706624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044952"/>
            <a:ext cx="17190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78837D"/>
                </a:solidFill>
                <a:latin typeface="Aptos"/>
              </a:rPr>
              <a:t>Pydantic
image checks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59168" y="3072384"/>
            <a:ext cx="219456" cy="0"/>
          </a:xfrm>
          <a:prstGeom prst="line">
            <a:avLst/>
          </a:prstGeom>
          <a:ln w="21590">
            <a:solidFill>
              <a:srgbClr val="DF7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24344" y="2487168"/>
            <a:ext cx="1938528" cy="11704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E1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706624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1" y="3044952"/>
            <a:ext cx="17190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78837D"/>
                </a:solidFill>
                <a:latin typeface="Aptos"/>
              </a:rPr>
              <a:t>report_service
import_service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81160" y="3072384"/>
            <a:ext cx="219456" cy="0"/>
          </a:xfrm>
          <a:prstGeom prst="line">
            <a:avLst/>
          </a:prstGeom>
          <a:ln w="21590">
            <a:solidFill>
              <a:srgbClr val="DF7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46336" y="2487168"/>
            <a:ext cx="1938528" cy="11704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E1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4352" y="2706624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3" y="3044952"/>
            <a:ext cx="17190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78837D"/>
                </a:solidFill>
                <a:latin typeface="Aptos"/>
              </a:rPr>
              <a:t>SQLAlchemy
SQLite in dev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096512"/>
            <a:ext cx="5276088" cy="1344168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525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THIS DELIVERY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" y="4800600"/>
            <a:ext cx="64008" cy="64008"/>
          </a:xfrm>
          <a:prstGeom prst="roundRect">
            <a:avLst>
              <a:gd name="adj" fmla="val 8000"/>
            </a:avLst>
          </a:prstGeom>
          <a:solidFill>
            <a:srgbClr val="174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690872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2522"/>
                </a:solidFill>
                <a:latin typeface="Aptos"/>
              </a:rPr>
              <a:t>Web submission, optional image, structured imports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4096512"/>
            <a:ext cx="5340096" cy="1344168"/>
          </a:xfrm>
          <a:prstGeom prst="roundRect">
            <a:avLst>
              <a:gd name="adj" fmla="val 8000"/>
            </a:avLst>
          </a:prstGeom>
          <a:solidFill>
            <a:srgbClr val="FB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43525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A641C"/>
                </a:solidFill>
                <a:latin typeface="Aptos"/>
              </a:rPr>
              <a:t>FUTURE TEAM SCOPE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55664" y="4800600"/>
            <a:ext cx="64008" cy="64008"/>
          </a:xfrm>
          <a:prstGeom prst="roundRect">
            <a:avLst>
              <a:gd name="adj" fmla="val 8000"/>
            </a:avLst>
          </a:prstGeom>
          <a:solidFill>
            <a:srgbClr val="DF7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38544" y="4690872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2522"/>
                </a:solidFill>
                <a:latin typeface="Aptos"/>
              </a:rPr>
              <a:t>Auth, incident review, maps, resources, AI planning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806440"/>
            <a:ext cx="10652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82522"/>
                </a:solidFill>
                <a:latin typeface="Aptos"/>
              </a:rPr>
              <a:t>A report is SUBMITTED evidence, not a confirmed incident or dispatch.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INCIDENT INTAKE  /  REPORT &amp;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5440" y="31089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78837D"/>
                </a:solidFill>
                <a:latin typeface="Aptos"/>
              </a:rPr>
              <a:t>DEMO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58368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89611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82522"/>
                </a:solidFill>
                <a:latin typeface="Aptos Display"/>
              </a:rPr>
              <a:t>A short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8837D"/>
                </a:solidFill>
                <a:latin typeface="Aptos"/>
              </a:rPr>
              <a:t>Show the behavior that maps directly to the two completed acceptance criteria.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E1E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5624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8837D"/>
                </a:solidFill>
                <a:latin typeface="Aptos"/>
              </a:rPr>
              <a:t>CURRENT SCOPE  ·  EPIC 1 / STORIES 1.1 + 1.2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74C42"/>
                </a:solidFill>
                <a:latin typeface="Aptos"/>
              </a:rPr>
              <a:t>07  / 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31136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74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68296"/>
            <a:ext cx="475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EFA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40279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522"/>
                </a:solidFill>
                <a:latin typeface="Aptos"/>
              </a:rPr>
              <a:t>Open the web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2258568"/>
            <a:ext cx="6995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8837D"/>
                </a:solidFill>
                <a:latin typeface="Aptos"/>
              </a:rPr>
              <a:t>Point out required fields and optional location/photo.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0976" y="2734056"/>
            <a:ext cx="0" cy="219456"/>
          </a:xfrm>
          <a:prstGeom prst="line">
            <a:avLst/>
          </a:prstGeom>
          <a:ln w="13970">
            <a:solidFill>
              <a:srgbClr val="B7C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2" y="2980944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74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118103"/>
            <a:ext cx="475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EFA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90087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522"/>
                </a:solidFill>
                <a:latin typeface="Aptos"/>
              </a:rPr>
              <a:t>Submit without a photo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3008375"/>
            <a:ext cx="6995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8837D"/>
                </a:solidFill>
                <a:latin typeface="Aptos"/>
              </a:rPr>
              <a:t>Show a successful response and report reference ID.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976" y="3483863"/>
            <a:ext cx="0" cy="219457"/>
          </a:xfrm>
          <a:prstGeom prst="line">
            <a:avLst/>
          </a:prstGeom>
          <a:ln w="13970">
            <a:solidFill>
              <a:srgbClr val="B7C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3232" y="373075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74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867912"/>
            <a:ext cx="475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EFA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3989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522"/>
                </a:solidFill>
                <a:latin typeface="Aptos"/>
              </a:rPr>
              <a:t>Choose JSON / 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3758184"/>
            <a:ext cx="6995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8837D"/>
                </a:solidFill>
                <a:latin typeface="Aptos"/>
              </a:rPr>
              <a:t>Show the field template and import controls.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0976" y="4233672"/>
            <a:ext cx="0" cy="219456"/>
          </a:xfrm>
          <a:prstGeom prst="line">
            <a:avLst/>
          </a:prstGeom>
          <a:ln w="13970">
            <a:solidFill>
              <a:srgbClr val="B7C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3232" y="44805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74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617720"/>
            <a:ext cx="475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EFA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897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522"/>
                </a:solidFill>
                <a:latin typeface="Aptos"/>
              </a:rPr>
              <a:t>Import mixed-validity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4507992"/>
            <a:ext cx="6995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8837D"/>
                </a:solidFill>
                <a:latin typeface="Aptos"/>
              </a:rPr>
              <a:t>Show accepted and rejected results for each record.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440680"/>
            <a:ext cx="10808208" cy="621792"/>
          </a:xfrm>
          <a:prstGeom prst="roundRect">
            <a:avLst>
              <a:gd name="adj" fmla="val 8000"/>
            </a:avLst>
          </a:prstGeom>
          <a:solidFill>
            <a:srgbClr val="10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65099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3C96F"/>
                </a:solidFill>
                <a:latin typeface="Aptos"/>
              </a:rPr>
              <a:t>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56816" y="55961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EFA"/>
                </a:solidFill>
                <a:latin typeface="Aptos"/>
              </a:rPr>
              <a:t>Two intake paths. One validated report pipeline. More modules remain for the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Intake Module</dc:title>
  <dc:subject>Epic 1 user stories 1.1 and 1.2</dc:subject>
  <dc:creator>Incident Response Project Team</dc:creator>
  <cp:keywords>incident reporting, JSON, CSV, media upload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